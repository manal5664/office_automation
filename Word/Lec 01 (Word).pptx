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67" r:id="rId3"/>
    <p:sldId id="270" r:id="rId4"/>
    <p:sldId id="271" r:id="rId5"/>
    <p:sldId id="272" r:id="rId6"/>
    <p:sldId id="273" r:id="rId7"/>
    <p:sldId id="274" r:id="rId8"/>
    <p:sldId id="275" r:id="rId9"/>
    <p:sldId id="277" r:id="rId10"/>
    <p:sldId id="279" r:id="rId11"/>
    <p:sldId id="281" r:id="rId12"/>
    <p:sldId id="280" r:id="rId13"/>
    <p:sldId id="282" r:id="rId14"/>
    <p:sldId id="283" r:id="rId15"/>
    <p:sldId id="28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581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701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93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26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3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0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1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7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00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981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97045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95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56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98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9202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924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8AC87-0976-4799-9C22-B51161FC39A9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4FFF1-9389-4660-B438-AD667475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404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6932-5DB8-0BF2-E24D-F568028E53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/>
              <a:t>INTRODUCTION TO OFFICE AUTOMATION: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70FD1-278F-5601-9C96-609462C3D1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15232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66929-7C47-464C-B585-AAC2D0BB02BF}"/>
              </a:ext>
            </a:extLst>
          </p:cNvPr>
          <p:cNvSpPr txBox="1"/>
          <p:nvPr/>
        </p:nvSpPr>
        <p:spPr>
          <a:xfrm>
            <a:off x="816048" y="1393715"/>
            <a:ext cx="6097772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Office (MS Office) is a suite of productivity software developed by Microsoft Corporation. It includes a collection of applications designed to help users perform various office-related tasks such as creating documents, managing data, making presentations, and handling emails.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C9089-A81A-4AED-8151-CCAA1FD3B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441" y="1505900"/>
            <a:ext cx="3971081" cy="40259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C8D123-08CD-41E5-83CA-41D5CD0F07A7}"/>
              </a:ext>
            </a:extLst>
          </p:cNvPr>
          <p:cNvSpPr txBox="1"/>
          <p:nvPr/>
        </p:nvSpPr>
        <p:spPr>
          <a:xfrm>
            <a:off x="671179" y="3604185"/>
            <a:ext cx="6097772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Word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:For creating and editing documents.</a:t>
            </a:r>
            <a:b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Writing a report or a letter.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spreadsheets, calculations, and charts.</a:t>
            </a:r>
            <a:b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Keeping a budget or making a sales chart.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PowerPoint 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presentations and slideshows.</a:t>
            </a:r>
            <a:b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a school or office presentation.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8F1C27-A60A-4E30-BD16-18AB00658414}"/>
              </a:ext>
            </a:extLst>
          </p:cNvPr>
          <p:cNvSpPr txBox="1"/>
          <p:nvPr/>
        </p:nvSpPr>
        <p:spPr>
          <a:xfrm>
            <a:off x="671179" y="3010489"/>
            <a:ext cx="609777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programs in Office Automation include:</a:t>
            </a:r>
          </a:p>
          <a:p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8FF948-2503-170F-D7D8-690AB11A173A}"/>
              </a:ext>
            </a:extLst>
          </p:cNvPr>
          <p:cNvSpPr txBox="1"/>
          <p:nvPr/>
        </p:nvSpPr>
        <p:spPr>
          <a:xfrm>
            <a:off x="477455" y="743680"/>
            <a:ext cx="7775294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900" b="1" dirty="0"/>
              <a:t>INTRODUCTION TO OFFICE AUTOMATION: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18234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8FC7D-D77D-4B87-804B-B602F5DCCA99}"/>
              </a:ext>
            </a:extLst>
          </p:cNvPr>
          <p:cNvSpPr txBox="1"/>
          <p:nvPr/>
        </p:nvSpPr>
        <p:spPr>
          <a:xfrm>
            <a:off x="667193" y="1329092"/>
            <a:ext cx="56178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Outlook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For email, calendar, and contacts.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work emails and scheduling meetings.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OneNote 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taking and organizing notes.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notes for a class or meeting.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Access 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creating and managing databases.</a:t>
            </a:r>
            <a:b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employee or student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342EDA-C594-43DB-9238-24E8A75E0B73}"/>
              </a:ext>
            </a:extLst>
          </p:cNvPr>
          <p:cNvSpPr txBox="1"/>
          <p:nvPr/>
        </p:nvSpPr>
        <p:spPr>
          <a:xfrm>
            <a:off x="667192" y="554297"/>
            <a:ext cx="76318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INTRODUCTION TO OFFICE AUTOMATION: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048C60-0A27-47DB-A367-63347627B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024" y="1329092"/>
            <a:ext cx="5285088" cy="40259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4833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A1E17-3203-4608-F5C3-6550373B3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Word 2021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50DBB-42F1-A7B8-501B-1DE24670F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4942995" cy="3695136"/>
          </a:xfrm>
        </p:spPr>
        <p:txBody>
          <a:bodyPr/>
          <a:lstStyle/>
          <a:p>
            <a:r>
              <a:rPr lang="en-US" dirty="0"/>
              <a:t>Microsoft Word 2021 is a word processing application.</a:t>
            </a:r>
            <a:br>
              <a:rPr lang="en-US" dirty="0"/>
            </a:br>
            <a:r>
              <a:rPr lang="en-US" dirty="0"/>
              <a:t>It is used to create documents like letters, reports, and resumes.</a:t>
            </a:r>
            <a:br>
              <a:rPr lang="en-US" dirty="0"/>
            </a:br>
            <a:r>
              <a:rPr lang="en-US" dirty="0"/>
              <a:t>It provides tools for formatting and professional document design.</a:t>
            </a:r>
          </a:p>
        </p:txBody>
      </p:sp>
      <p:pic>
        <p:nvPicPr>
          <p:cNvPr id="1028" name="Picture 4" descr="Microsoft Word Logo, symbol, meaning ...">
            <a:extLst>
              <a:ext uri="{FF2B5EF4-FFF2-40B4-BE49-F238E27FC236}">
                <a16:creationId xmlns:a16="http://schemas.microsoft.com/office/drawing/2014/main" id="{9AEE85E3-25FB-4DD7-9F7D-F3F0E5D3C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453" y="2096064"/>
            <a:ext cx="3839237" cy="299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792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B0D58-8A07-4DDB-8690-6EA3E4F1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002" y="167295"/>
            <a:ext cx="10353761" cy="1326321"/>
          </a:xfrm>
        </p:spPr>
        <p:txBody>
          <a:bodyPr/>
          <a:lstStyle/>
          <a:p>
            <a:r>
              <a:rPr lang="en-US" dirty="0"/>
              <a:t>MS Word Interface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3F272E-E3B3-FDED-5AD1-18021CD55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780" y="1154271"/>
            <a:ext cx="11196577" cy="5536434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49FF14E-D8F8-C4D5-4157-97D9C71E7038}"/>
              </a:ext>
            </a:extLst>
          </p:cNvPr>
          <p:cNvSpPr/>
          <p:nvPr/>
        </p:nvSpPr>
        <p:spPr>
          <a:xfrm>
            <a:off x="740780" y="1154271"/>
            <a:ext cx="3102015" cy="339345"/>
          </a:xfrm>
          <a:prstGeom prst="rect">
            <a:avLst/>
          </a:prstGeom>
          <a:noFill/>
          <a:ln w="57150"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A9DC82-3B18-8A1D-9C59-B427A15446AA}"/>
              </a:ext>
            </a:extLst>
          </p:cNvPr>
          <p:cNvCxnSpPr/>
          <p:nvPr/>
        </p:nvCxnSpPr>
        <p:spPr>
          <a:xfrm>
            <a:off x="1203767" y="1493616"/>
            <a:ext cx="0" cy="1712571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78C48DA-F650-3561-5E09-A566E2A24AD9}"/>
              </a:ext>
            </a:extLst>
          </p:cNvPr>
          <p:cNvSpPr txBox="1"/>
          <p:nvPr/>
        </p:nvSpPr>
        <p:spPr>
          <a:xfrm>
            <a:off x="740780" y="3206187"/>
            <a:ext cx="238764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Toolbar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EB85B3-A314-E97E-1523-94BB19E2381E}"/>
              </a:ext>
            </a:extLst>
          </p:cNvPr>
          <p:cNvSpPr/>
          <p:nvPr/>
        </p:nvSpPr>
        <p:spPr>
          <a:xfrm>
            <a:off x="740780" y="1493616"/>
            <a:ext cx="7002677" cy="339345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8C043BF-7FE9-580C-BFA9-7D00E1B39219}"/>
              </a:ext>
            </a:extLst>
          </p:cNvPr>
          <p:cNvCxnSpPr/>
          <p:nvPr/>
        </p:nvCxnSpPr>
        <p:spPr>
          <a:xfrm>
            <a:off x="7444449" y="1843612"/>
            <a:ext cx="0" cy="1712571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2CD4DE5-F9A2-952F-A7EA-DB91115AD73E}"/>
              </a:ext>
            </a:extLst>
          </p:cNvPr>
          <p:cNvSpPr txBox="1"/>
          <p:nvPr/>
        </p:nvSpPr>
        <p:spPr>
          <a:xfrm>
            <a:off x="7106023" y="3590908"/>
            <a:ext cx="67685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2958A4-15FE-6B6C-6AF8-BAFDAFFD4913}"/>
              </a:ext>
            </a:extLst>
          </p:cNvPr>
          <p:cNvSpPr/>
          <p:nvPr/>
        </p:nvSpPr>
        <p:spPr>
          <a:xfrm>
            <a:off x="1770927" y="1832961"/>
            <a:ext cx="2720045" cy="875515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B39C47-FABE-E144-740D-39AED078A9F3}"/>
              </a:ext>
            </a:extLst>
          </p:cNvPr>
          <p:cNvCxnSpPr/>
          <p:nvPr/>
        </p:nvCxnSpPr>
        <p:spPr>
          <a:xfrm>
            <a:off x="3719330" y="2702068"/>
            <a:ext cx="0" cy="1712571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D552375-ED84-9AE6-1A5C-A6BD34C3BF3A}"/>
              </a:ext>
            </a:extLst>
          </p:cNvPr>
          <p:cNvSpPr txBox="1"/>
          <p:nvPr/>
        </p:nvSpPr>
        <p:spPr>
          <a:xfrm>
            <a:off x="2975429" y="4414639"/>
            <a:ext cx="1515543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Fonts Group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EAEA67-BCD6-CDE3-EEA0-9E26412B17B4}"/>
              </a:ext>
            </a:extLst>
          </p:cNvPr>
          <p:cNvSpPr/>
          <p:nvPr/>
        </p:nvSpPr>
        <p:spPr>
          <a:xfrm>
            <a:off x="4490972" y="1859107"/>
            <a:ext cx="2206908" cy="875515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283FF51-E0FB-A86A-0E5B-5EB652533C5D}"/>
              </a:ext>
            </a:extLst>
          </p:cNvPr>
          <p:cNvCxnSpPr>
            <a:cxnSpLocks/>
          </p:cNvCxnSpPr>
          <p:nvPr/>
        </p:nvCxnSpPr>
        <p:spPr>
          <a:xfrm>
            <a:off x="5688955" y="2734622"/>
            <a:ext cx="0" cy="1328092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4821B8E-A80C-D55E-2E87-F97052EF16B2}"/>
              </a:ext>
            </a:extLst>
          </p:cNvPr>
          <p:cNvSpPr txBox="1"/>
          <p:nvPr/>
        </p:nvSpPr>
        <p:spPr>
          <a:xfrm>
            <a:off x="4931183" y="4029918"/>
            <a:ext cx="20557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Paragraph Group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BA53AE-1737-53BE-CE64-96B8E56CD66A}"/>
              </a:ext>
            </a:extLst>
          </p:cNvPr>
          <p:cNvSpPr/>
          <p:nvPr/>
        </p:nvSpPr>
        <p:spPr>
          <a:xfrm>
            <a:off x="740780" y="1832961"/>
            <a:ext cx="10353754" cy="95595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ACC4395-CDFF-C275-DA35-5B9FB5A42BA0}"/>
              </a:ext>
            </a:extLst>
          </p:cNvPr>
          <p:cNvCxnSpPr>
            <a:cxnSpLocks/>
          </p:cNvCxnSpPr>
          <p:nvPr/>
        </p:nvCxnSpPr>
        <p:spPr>
          <a:xfrm>
            <a:off x="9321477" y="2806826"/>
            <a:ext cx="0" cy="1295296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80E6889-B7A9-B4E3-2709-41C8B6071BC6}"/>
              </a:ext>
            </a:extLst>
          </p:cNvPr>
          <p:cNvSpPr txBox="1"/>
          <p:nvPr/>
        </p:nvSpPr>
        <p:spPr>
          <a:xfrm>
            <a:off x="8878145" y="4102122"/>
            <a:ext cx="95891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Ribbon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62A08D-5931-1E62-6795-97AE552E24DC}"/>
              </a:ext>
            </a:extLst>
          </p:cNvPr>
          <p:cNvSpPr/>
          <p:nvPr/>
        </p:nvSpPr>
        <p:spPr>
          <a:xfrm>
            <a:off x="3923818" y="1154271"/>
            <a:ext cx="4143736" cy="313199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9670AE-60AE-DB62-8B0A-B57D8D8EF2F2}"/>
              </a:ext>
            </a:extLst>
          </p:cNvPr>
          <p:cNvCxnSpPr>
            <a:cxnSpLocks/>
          </p:cNvCxnSpPr>
          <p:nvPr/>
        </p:nvCxnSpPr>
        <p:spPr>
          <a:xfrm>
            <a:off x="6986938" y="1493616"/>
            <a:ext cx="1" cy="376129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682B28-D435-F0C1-3DF7-A43A7E669837}"/>
              </a:ext>
            </a:extLst>
          </p:cNvPr>
          <p:cNvSpPr txBox="1"/>
          <p:nvPr/>
        </p:nvSpPr>
        <p:spPr>
          <a:xfrm>
            <a:off x="6326451" y="5265557"/>
            <a:ext cx="111799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Bar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31350E-8D4A-0F4E-9274-89EF73098C4B}"/>
              </a:ext>
            </a:extLst>
          </p:cNvPr>
          <p:cNvSpPr/>
          <p:nvPr/>
        </p:nvSpPr>
        <p:spPr>
          <a:xfrm>
            <a:off x="740780" y="6425087"/>
            <a:ext cx="11192719" cy="26561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05C72D3-0CBD-C90E-862F-B00A95E887D9}"/>
              </a:ext>
            </a:extLst>
          </p:cNvPr>
          <p:cNvCxnSpPr>
            <a:cxnSpLocks/>
          </p:cNvCxnSpPr>
          <p:nvPr/>
        </p:nvCxnSpPr>
        <p:spPr>
          <a:xfrm flipH="1" flipV="1">
            <a:off x="1932972" y="5810491"/>
            <a:ext cx="636608" cy="614596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081765B-9156-AC7B-F566-549BEB507C11}"/>
              </a:ext>
            </a:extLst>
          </p:cNvPr>
          <p:cNvSpPr txBox="1"/>
          <p:nvPr/>
        </p:nvSpPr>
        <p:spPr>
          <a:xfrm>
            <a:off x="1173789" y="5460601"/>
            <a:ext cx="128913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 Bar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3694291-6306-0A89-DDD6-EC971E8C62F7}"/>
              </a:ext>
            </a:extLst>
          </p:cNvPr>
          <p:cNvSpPr/>
          <p:nvPr/>
        </p:nvSpPr>
        <p:spPr>
          <a:xfrm>
            <a:off x="11555998" y="2734622"/>
            <a:ext cx="310177" cy="2064738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BEC68EE-FA2F-9575-B0AC-031E9E10623F}"/>
              </a:ext>
            </a:extLst>
          </p:cNvPr>
          <p:cNvCxnSpPr>
            <a:cxnSpLocks/>
          </p:cNvCxnSpPr>
          <p:nvPr/>
        </p:nvCxnSpPr>
        <p:spPr>
          <a:xfrm flipH="1">
            <a:off x="10405286" y="4327795"/>
            <a:ext cx="1150712" cy="740023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87179F4A-3607-343B-7DB7-3DC63409F5BA}"/>
              </a:ext>
            </a:extLst>
          </p:cNvPr>
          <p:cNvSpPr txBox="1"/>
          <p:nvPr/>
        </p:nvSpPr>
        <p:spPr>
          <a:xfrm>
            <a:off x="9731337" y="5169371"/>
            <a:ext cx="123982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Scroll Bar</a:t>
            </a:r>
          </a:p>
        </p:txBody>
      </p:sp>
    </p:spTree>
    <p:extLst>
      <p:ext uri="{BB962C8B-B14F-4D97-AF65-F5344CB8AC3E}">
        <p14:creationId xmlns:p14="http://schemas.microsoft.com/office/powerpoint/2010/main" val="227111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9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  <p:bldP spid="11" grpId="0" animBg="1"/>
      <p:bldP spid="13" grpId="0"/>
      <p:bldP spid="14" grpId="0" animBg="1"/>
      <p:bldP spid="17" grpId="0"/>
      <p:bldP spid="18" grpId="0" animBg="1"/>
      <p:bldP spid="21" grpId="0"/>
      <p:bldP spid="23" grpId="0" animBg="1"/>
      <p:bldP spid="26" grpId="0"/>
      <p:bldP spid="27" grpId="0" animBg="1"/>
      <p:bldP spid="32" grpId="0"/>
      <p:bldP spid="33" grpId="0" animBg="1"/>
      <p:bldP spid="37" grpId="0"/>
      <p:bldP spid="38" grpId="0" animBg="1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13935CF-D886-6375-FD09-D9A21EE28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298" y="609600"/>
            <a:ext cx="12026095" cy="1326321"/>
          </a:xfrm>
        </p:spPr>
        <p:txBody>
          <a:bodyPr/>
          <a:lstStyle/>
          <a:p>
            <a:r>
              <a:rPr lang="en-US" dirty="0"/>
              <a:t>MS Word Interface Main Component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1A462A-D8E9-C9D2-5B77-9AC034CCF262}"/>
              </a:ext>
            </a:extLst>
          </p:cNvPr>
          <p:cNvSpPr txBox="1"/>
          <p:nvPr/>
        </p:nvSpPr>
        <p:spPr>
          <a:xfrm>
            <a:off x="707219" y="1935921"/>
            <a:ext cx="1117998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Bar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the name of your document and the program (Microsoft Word).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Quick Access Toolbar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Has shortcut buttons for common actions like Save, Undo, and Redo.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Ribbon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all the tools and commands you need to work in Word, arranged in tabs.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These are the main sections on the Ribbon (like Home, Insert, Design) that group related tools together.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Each tab is divided into smaller parts (groups) that hold similar commands, like Font or Paragraph.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Bar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Shows information about your document, such as page number, word count, and language.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Buttons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 you switch between different ways to see your document (like Print Layout or Web Layout).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Zoom Slider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Lets you make your document look bigger or smaller on the screen.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Scroll Bars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Help you move up and down or side to side to view different parts of your document.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Tab (Backstage View)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Opens options like New, Open, Save, Print, and Close for managing your documents.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27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D09E-58AC-EA5C-36C5-946DE3777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Font Group (in the Home Tab):</a:t>
            </a:r>
            <a:br>
              <a:rPr lang="en-US" altLang="en-US" sz="3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7E97B-2EF2-4F81-6C5C-75E252B7A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78" y="1562582"/>
            <a:ext cx="11158600" cy="481506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Type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of letters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Size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or small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your text looks.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Bold (B)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text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thicker and darker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Italic (I)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Slants the text to the right.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Underline (U)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under the text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B93DB-607C-8CD3-5C43-E343DC828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228" y="2760509"/>
            <a:ext cx="5717494" cy="2161571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D943959-9056-BAA0-E8A7-D05E25DED078}"/>
              </a:ext>
            </a:extLst>
          </p:cNvPr>
          <p:cNvSpPr/>
          <p:nvPr/>
        </p:nvSpPr>
        <p:spPr>
          <a:xfrm>
            <a:off x="6090675" y="3217762"/>
            <a:ext cx="2150500" cy="40511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599688-32CD-90C9-7928-23D39D670E48}"/>
              </a:ext>
            </a:extLst>
          </p:cNvPr>
          <p:cNvSpPr/>
          <p:nvPr/>
        </p:nvSpPr>
        <p:spPr>
          <a:xfrm>
            <a:off x="6090675" y="3788780"/>
            <a:ext cx="391148" cy="40511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C93ECF-6C38-C125-BC85-CEAAD98E3D72}"/>
              </a:ext>
            </a:extLst>
          </p:cNvPr>
          <p:cNvSpPr/>
          <p:nvPr/>
        </p:nvSpPr>
        <p:spPr>
          <a:xfrm>
            <a:off x="7004267" y="3788780"/>
            <a:ext cx="391148" cy="40511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0C9029-8602-EA6F-8B6F-0D10114A3415}"/>
              </a:ext>
            </a:extLst>
          </p:cNvPr>
          <p:cNvSpPr/>
          <p:nvPr/>
        </p:nvSpPr>
        <p:spPr>
          <a:xfrm>
            <a:off x="6538976" y="3767559"/>
            <a:ext cx="391148" cy="405114"/>
          </a:xfrm>
          <a:prstGeom prst="rect">
            <a:avLst/>
          </a:prstGeom>
          <a:noFill/>
          <a:ln w="38100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818A1A-54E6-D0CE-7D02-EB4B8D0195FD}"/>
              </a:ext>
            </a:extLst>
          </p:cNvPr>
          <p:cNvCxnSpPr/>
          <p:nvPr/>
        </p:nvCxnSpPr>
        <p:spPr>
          <a:xfrm flipV="1">
            <a:off x="6621137" y="2247441"/>
            <a:ext cx="0" cy="97032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88F9A4-A602-70FF-EF35-50503905140D}"/>
              </a:ext>
            </a:extLst>
          </p:cNvPr>
          <p:cNvCxnSpPr>
            <a:cxnSpLocks/>
          </p:cNvCxnSpPr>
          <p:nvPr/>
        </p:nvCxnSpPr>
        <p:spPr>
          <a:xfrm>
            <a:off x="7235392" y="4172673"/>
            <a:ext cx="597601" cy="1248826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E219DCC-94FC-3E2A-11E0-2EA37AA4CEDE}"/>
              </a:ext>
            </a:extLst>
          </p:cNvPr>
          <p:cNvCxnSpPr>
            <a:cxnSpLocks/>
          </p:cNvCxnSpPr>
          <p:nvPr/>
        </p:nvCxnSpPr>
        <p:spPr>
          <a:xfrm>
            <a:off x="6734550" y="4172672"/>
            <a:ext cx="0" cy="1122745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3D91696-FF06-D67D-2E2C-865B6AC49199}"/>
              </a:ext>
            </a:extLst>
          </p:cNvPr>
          <p:cNvCxnSpPr>
            <a:cxnSpLocks/>
          </p:cNvCxnSpPr>
          <p:nvPr/>
        </p:nvCxnSpPr>
        <p:spPr>
          <a:xfrm flipH="1">
            <a:off x="5640636" y="4172671"/>
            <a:ext cx="619053" cy="1248828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FAB557B-D2DB-EBC4-A1AF-E673A5352EA9}"/>
              </a:ext>
            </a:extLst>
          </p:cNvPr>
          <p:cNvSpPr txBox="1"/>
          <p:nvPr/>
        </p:nvSpPr>
        <p:spPr>
          <a:xfrm>
            <a:off x="5640636" y="2974554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52612C-4541-BB97-6B44-4BD606906D9C}"/>
              </a:ext>
            </a:extLst>
          </p:cNvPr>
          <p:cNvSpPr txBox="1"/>
          <p:nvPr/>
        </p:nvSpPr>
        <p:spPr>
          <a:xfrm>
            <a:off x="5954615" y="1864882"/>
            <a:ext cx="1401407" cy="369332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Font type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820B48-09CC-5B85-F817-ABF5D0DC9E6E}"/>
              </a:ext>
            </a:extLst>
          </p:cNvPr>
          <p:cNvSpPr txBox="1"/>
          <p:nvPr/>
        </p:nvSpPr>
        <p:spPr>
          <a:xfrm>
            <a:off x="5170583" y="5421499"/>
            <a:ext cx="702645" cy="369332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Bold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901BA2-FA21-639B-FCE7-6905B39D6779}"/>
              </a:ext>
            </a:extLst>
          </p:cNvPr>
          <p:cNvSpPr txBox="1"/>
          <p:nvPr/>
        </p:nvSpPr>
        <p:spPr>
          <a:xfrm>
            <a:off x="7540471" y="5425844"/>
            <a:ext cx="1401407" cy="369332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Under 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99C86E-FFA8-11C6-66E2-EA06789C0F41}"/>
              </a:ext>
            </a:extLst>
          </p:cNvPr>
          <p:cNvSpPr txBox="1"/>
          <p:nvPr/>
        </p:nvSpPr>
        <p:spPr>
          <a:xfrm>
            <a:off x="6481823" y="5300556"/>
            <a:ext cx="702645" cy="369332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Italic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9CA2BE-E9BE-89E5-9049-7BAB602E5523}"/>
              </a:ext>
            </a:extLst>
          </p:cNvPr>
          <p:cNvSpPr/>
          <p:nvPr/>
        </p:nvSpPr>
        <p:spPr>
          <a:xfrm>
            <a:off x="8328752" y="3217762"/>
            <a:ext cx="749147" cy="405114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926F95-B533-8871-7B2E-939F7AE7E579}"/>
              </a:ext>
            </a:extLst>
          </p:cNvPr>
          <p:cNvCxnSpPr/>
          <p:nvPr/>
        </p:nvCxnSpPr>
        <p:spPr>
          <a:xfrm flipV="1">
            <a:off x="8723523" y="2247441"/>
            <a:ext cx="0" cy="970321"/>
          </a:xfrm>
          <a:prstGeom prst="straightConnector1">
            <a:avLst/>
          </a:prstGeom>
          <a:ln w="28575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E296D17-C558-2BA2-B56F-3A2EF476A0C5}"/>
              </a:ext>
            </a:extLst>
          </p:cNvPr>
          <p:cNvSpPr txBox="1"/>
          <p:nvPr/>
        </p:nvSpPr>
        <p:spPr>
          <a:xfrm>
            <a:off x="8022544" y="1874104"/>
            <a:ext cx="1401407" cy="369332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Font Size</a:t>
            </a:r>
          </a:p>
        </p:txBody>
      </p:sp>
    </p:spTree>
    <p:extLst>
      <p:ext uri="{BB962C8B-B14F-4D97-AF65-F5344CB8AC3E}">
        <p14:creationId xmlns:p14="http://schemas.microsoft.com/office/powerpoint/2010/main" val="218685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9" grpId="0" animBg="1"/>
      <p:bldP spid="20" grpId="0" animBg="1"/>
      <p:bldP spid="23" grpId="0" animBg="1"/>
      <p:bldP spid="25" grpId="0" animBg="1"/>
      <p:bldP spid="26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9866-716D-3C48-06A1-72ADB4D8D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Font Group (in the Home Tab):</a:t>
            </a:r>
            <a:br>
              <a:rPr lang="en-US" altLang="en-US" sz="32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0C9D6-3C92-DE95-742D-B2EB68DF3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74565"/>
            <a:ext cx="10353762" cy="5056742"/>
          </a:xfrm>
        </p:spPr>
        <p:txBody>
          <a:bodyPr>
            <a:normAutofit fontScale="6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Strikethrough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Subscript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Superscript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Highlight Color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Font Color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Effects and Typography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Clear All Formatting</a:t>
            </a:r>
          </a:p>
          <a:p>
            <a:pPr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08CF4C-B9A3-4EFB-BE79-897B6A831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" t="13806" r="75195" b="65416"/>
          <a:stretch/>
        </p:blipFill>
        <p:spPr>
          <a:xfrm>
            <a:off x="4346737" y="2115547"/>
            <a:ext cx="1709793" cy="6102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8340B-7507-9AC9-7CE0-2903E3BFA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84" t="17437" r="52371" b="65009"/>
          <a:stretch/>
        </p:blipFill>
        <p:spPr>
          <a:xfrm>
            <a:off x="6275407" y="2696141"/>
            <a:ext cx="1288974" cy="642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83F1F7-BBF4-2787-B0B9-0185A5497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62" t="18575" r="-321" b="66927"/>
          <a:stretch/>
        </p:blipFill>
        <p:spPr>
          <a:xfrm>
            <a:off x="6275407" y="4027677"/>
            <a:ext cx="1500757" cy="530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4DC820-21F2-5D9E-84FF-06399D14C3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8" t="14325" r="24153" b="66014"/>
          <a:stretch/>
        </p:blipFill>
        <p:spPr>
          <a:xfrm>
            <a:off x="3822977" y="3308533"/>
            <a:ext cx="1722801" cy="7191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82A4A4-A2E1-BB59-0678-84BB7EE24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90" r="80082" b="40050"/>
          <a:stretch/>
        </p:blipFill>
        <p:spPr>
          <a:xfrm>
            <a:off x="3822977" y="4716388"/>
            <a:ext cx="1399503" cy="6240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5ED1F8-6663-05A3-0132-5EE13F48F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7" t="39886" r="16700" b="27455"/>
          <a:stretch/>
        </p:blipFill>
        <p:spPr>
          <a:xfrm>
            <a:off x="6727983" y="5156640"/>
            <a:ext cx="3815839" cy="93409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31A970-F793-6018-6165-E238E9890C0A}"/>
              </a:ext>
            </a:extLst>
          </p:cNvPr>
          <p:cNvCxnSpPr>
            <a:cxnSpLocks/>
          </p:cNvCxnSpPr>
          <p:nvPr/>
        </p:nvCxnSpPr>
        <p:spPr>
          <a:xfrm>
            <a:off x="3251200" y="2420660"/>
            <a:ext cx="1050381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E66C691-C799-DEE6-5B21-BFF49B7003F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607733" y="3017153"/>
            <a:ext cx="3667674" cy="1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98A0C03-2D5C-848A-5B29-4EE4F0DFA48A}"/>
              </a:ext>
            </a:extLst>
          </p:cNvPr>
          <p:cNvCxnSpPr/>
          <p:nvPr/>
        </p:nvCxnSpPr>
        <p:spPr>
          <a:xfrm>
            <a:off x="2878409" y="3668105"/>
            <a:ext cx="948781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60EC205-5611-532B-2C36-44731066076F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209986" y="4280724"/>
            <a:ext cx="2065421" cy="12096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B218E6D-C1BB-61FE-CEA0-60EF87BB21CA}"/>
              </a:ext>
            </a:extLst>
          </p:cNvPr>
          <p:cNvCxnSpPr>
            <a:cxnSpLocks/>
          </p:cNvCxnSpPr>
          <p:nvPr/>
        </p:nvCxnSpPr>
        <p:spPr>
          <a:xfrm>
            <a:off x="2743679" y="4918986"/>
            <a:ext cx="1032711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0FED18E-F021-4FEE-7354-0B241A1CC5CC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272431" y="5623687"/>
            <a:ext cx="1455552" cy="0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658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5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3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D75E-10EE-4D42-BADD-FE0AD38C3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702"/>
          </a:xfrm>
        </p:spPr>
        <p:txBody>
          <a:bodyPr>
            <a:normAutofit fontScale="90000"/>
          </a:bodyPr>
          <a:lstStyle/>
          <a:p>
            <a:r>
              <a:rPr lang="en-US" sz="4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Paragraph Group (in the Home Tab)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6B5ADF8-E112-47DC-B080-F4CB4CA21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828" y="1376328"/>
            <a:ext cx="2651394" cy="2224627"/>
          </a:xfrm>
          <a:prstGeom prst="rect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84AB98-CFC5-4582-98C0-E7B95A2CF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0459" y="3975438"/>
            <a:ext cx="4922966" cy="2517436"/>
          </a:xfrm>
          <a:prstGeom prst="rect">
            <a:avLst/>
          </a:prstGeom>
          <a:ln w="38100">
            <a:solidFill>
              <a:schemeClr val="accent5">
                <a:lumMod val="50000"/>
              </a:schemeClr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2A312B-C220-49CB-A5BF-A7E726533915}"/>
              </a:ext>
            </a:extLst>
          </p:cNvPr>
          <p:cNvSpPr txBox="1"/>
          <p:nvPr/>
        </p:nvSpPr>
        <p:spPr>
          <a:xfrm>
            <a:off x="243290" y="1796372"/>
            <a:ext cx="3634648" cy="1200329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Bullets (•)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list with dots for each item.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A shopping list or points list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D46D2-5A7B-4922-A718-4A79DC16D042}"/>
              </a:ext>
            </a:extLst>
          </p:cNvPr>
          <p:cNvSpPr txBox="1"/>
          <p:nvPr/>
        </p:nvSpPr>
        <p:spPr>
          <a:xfrm>
            <a:off x="243290" y="4835667"/>
            <a:ext cx="3554317" cy="923330"/>
          </a:xfrm>
          <a:prstGeom prst="rect">
            <a:avLst/>
          </a:prstGeom>
          <a:noFill/>
          <a:ln w="57150">
            <a:solidFill>
              <a:schemeClr val="accent5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Numbering (1, 2, 3 …)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Creates a numbered list.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Step-by-step instructions.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A93426F-A3A0-DD2D-6634-8496C79DCCE7}"/>
              </a:ext>
            </a:extLst>
          </p:cNvPr>
          <p:cNvCxnSpPr>
            <a:cxnSpLocks/>
          </p:cNvCxnSpPr>
          <p:nvPr/>
        </p:nvCxnSpPr>
        <p:spPr>
          <a:xfrm>
            <a:off x="3877938" y="2312083"/>
            <a:ext cx="117880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058B153-A2D7-9F0C-B971-E5357CE14D3D}"/>
              </a:ext>
            </a:extLst>
          </p:cNvPr>
          <p:cNvCxnSpPr>
            <a:cxnSpLocks/>
          </p:cNvCxnSpPr>
          <p:nvPr/>
        </p:nvCxnSpPr>
        <p:spPr>
          <a:xfrm>
            <a:off x="3797607" y="5175776"/>
            <a:ext cx="3032852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39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788C-3D9E-4B2A-BFAF-3BDC850A2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6218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7DC9F3-2F44-4394-9029-787475D25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1306" y="1027446"/>
            <a:ext cx="5460694" cy="583055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08730AB-259F-47A7-AFE7-35EB240C301A}"/>
              </a:ext>
            </a:extLst>
          </p:cNvPr>
          <p:cNvSpPr txBox="1"/>
          <p:nvPr/>
        </p:nvSpPr>
        <p:spPr>
          <a:xfrm>
            <a:off x="838200" y="1574470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Multilevel List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Creates a hierarchical list with main points and sub-points.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 An outline with topics and subtopics.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68BE3D-3470-4C5F-88AF-53CE2AA4353B}"/>
              </a:ext>
            </a:extLst>
          </p:cNvPr>
          <p:cNvSpPr txBox="1"/>
          <p:nvPr/>
        </p:nvSpPr>
        <p:spPr>
          <a:xfrm>
            <a:off x="838200" y="2828835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	Decrease/Increase Indent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Adjusts the left margin of a paragraph.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Increase = moves paragraph to the right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Decrease = moves it to the left.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B3BBEC-0D71-4D71-BFEF-8C16D5BEABD2}"/>
              </a:ext>
            </a:extLst>
          </p:cNvPr>
          <p:cNvSpPr txBox="1"/>
          <p:nvPr/>
        </p:nvSpPr>
        <p:spPr>
          <a:xfrm>
            <a:off x="838200" y="421162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	Align Left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Aligns text to the left margin.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E36B87-1C1A-4856-85F9-CE4A14AC508A}"/>
              </a:ext>
            </a:extLst>
          </p:cNvPr>
          <p:cNvSpPr txBox="1"/>
          <p:nvPr/>
        </p:nvSpPr>
        <p:spPr>
          <a:xfrm>
            <a:off x="838200" y="5046628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6.     Center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Centers the text horizontally.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0D19C5-2B71-4420-8F23-AD82F2DC7D96}"/>
              </a:ext>
            </a:extLst>
          </p:cNvPr>
          <p:cNvSpPr txBox="1"/>
          <p:nvPr/>
        </p:nvSpPr>
        <p:spPr>
          <a:xfrm>
            <a:off x="838200" y="5846543"/>
            <a:ext cx="5970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7.     Align Right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Aligns text to the right margin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86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304159-401C-48A1-941D-8B6A70E3F692}"/>
              </a:ext>
            </a:extLst>
          </p:cNvPr>
          <p:cNvSpPr txBox="1"/>
          <p:nvPr/>
        </p:nvSpPr>
        <p:spPr>
          <a:xfrm>
            <a:off x="720356" y="405165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 startAt="7"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Justify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Aligns text evenly on both left and right margins for a neat look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2F9EEE-F670-4754-9ACC-E3DB0AEF15FF}"/>
              </a:ext>
            </a:extLst>
          </p:cNvPr>
          <p:cNvSpPr txBox="1"/>
          <p:nvPr/>
        </p:nvSpPr>
        <p:spPr>
          <a:xfrm>
            <a:off x="720356" y="134083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 and Paragraph Spacing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Adjusts the space between lines and between paragraphs.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63BFB8-A988-4EA1-9145-00886D4F9970}"/>
              </a:ext>
            </a:extLst>
          </p:cNvPr>
          <p:cNvSpPr txBox="1"/>
          <p:nvPr/>
        </p:nvSpPr>
        <p:spPr>
          <a:xfrm>
            <a:off x="720356" y="212763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9"/>
            </a:pPr>
            <a:r>
              <a:rPr lang="en-US" sz="1800" b="1" dirty="0"/>
              <a:t>Shading (paint bucket icon)</a:t>
            </a:r>
            <a:endParaRPr lang="en-US" sz="1800" dirty="0"/>
          </a:p>
          <a:p>
            <a:r>
              <a:rPr lang="en-US" sz="1800" dirty="0"/>
              <a:t>       Adds background color to a paragraph</a:t>
            </a: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01CB7-B879-4305-AB16-FC465A66DF90}"/>
              </a:ext>
            </a:extLst>
          </p:cNvPr>
          <p:cNvSpPr txBox="1"/>
          <p:nvPr/>
        </p:nvSpPr>
        <p:spPr>
          <a:xfrm>
            <a:off x="720356" y="2914447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 startAt="10"/>
            </a:pPr>
            <a:r>
              <a:rPr lang="en-US" sz="1800" b="1" dirty="0"/>
              <a:t>Borders</a:t>
            </a:r>
            <a:endParaRPr lang="en-US" sz="1800" dirty="0"/>
          </a:p>
          <a:p>
            <a:r>
              <a:rPr lang="en-US" sz="1800" dirty="0"/>
              <a:t>        Adds a border around the paragraph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5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41CDB-8DCD-B0E8-4DCC-B7153C003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2824"/>
            <a:ext cx="12192000" cy="1326321"/>
          </a:xfrm>
        </p:spPr>
        <p:txBody>
          <a:bodyPr>
            <a:noAutofit/>
          </a:bodyPr>
          <a:lstStyle/>
          <a:p>
            <a:r>
              <a:rPr lang="en-US" sz="24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Creating Custom Bulleted, Numbering &amp; Multilevel Lists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D411A-A7A7-14C5-DEAC-9456D08B9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 Bulleted List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Meaning: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list that uses special symbols (like ●,   ✔, ★, →) before each item.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the order of items doesn’t matter.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72D256-0E88-FA4E-F0C5-01081142153A}"/>
              </a:ext>
            </a:extLst>
          </p:cNvPr>
          <p:cNvSpPr txBox="1"/>
          <p:nvPr/>
        </p:nvSpPr>
        <p:spPr>
          <a:xfrm>
            <a:off x="1363337" y="3750708"/>
            <a:ext cx="7637444" cy="2119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How to Create in Word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Select the text.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Home tab → Bullets dropdown arrow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Click </a:t>
            </a:r>
            <a:r>
              <a:rPr lang="en-US" b="1" dirty="0"/>
              <a:t>Define New Bullet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Choose </a:t>
            </a:r>
            <a:r>
              <a:rPr lang="en-US" b="1" dirty="0"/>
              <a:t>Symbol</a:t>
            </a:r>
            <a:r>
              <a:rPr lang="en-US" dirty="0"/>
              <a:t> and select any symbol you like.</a:t>
            </a:r>
          </a:p>
        </p:txBody>
      </p:sp>
    </p:spTree>
    <p:extLst>
      <p:ext uri="{BB962C8B-B14F-4D97-AF65-F5344CB8AC3E}">
        <p14:creationId xmlns:p14="http://schemas.microsoft.com/office/powerpoint/2010/main" val="33605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C3D657-F1B3-4C2C-B0BB-77DB902278E0}"/>
              </a:ext>
            </a:extLst>
          </p:cNvPr>
          <p:cNvSpPr txBox="1"/>
          <p:nvPr/>
        </p:nvSpPr>
        <p:spPr>
          <a:xfrm>
            <a:off x="618067" y="130108"/>
            <a:ext cx="1120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Steps of Creating Custom Bulleted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F1B33-C250-4DF6-A706-6E94A8A3D1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93"/>
          <a:stretch/>
        </p:blipFill>
        <p:spPr>
          <a:xfrm>
            <a:off x="814906" y="1769933"/>
            <a:ext cx="4502545" cy="248274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439387-9694-4CAA-AD48-9DF0B6EF35D3}"/>
              </a:ext>
            </a:extLst>
          </p:cNvPr>
          <p:cNvSpPr txBox="1"/>
          <p:nvPr/>
        </p:nvSpPr>
        <p:spPr>
          <a:xfrm>
            <a:off x="618067" y="1132469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B40FA-645E-4C9E-8A1B-EE12E0ED7A0B}"/>
              </a:ext>
            </a:extLst>
          </p:cNvPr>
          <p:cNvSpPr txBox="1"/>
          <p:nvPr/>
        </p:nvSpPr>
        <p:spPr>
          <a:xfrm>
            <a:off x="1040795" y="5191516"/>
            <a:ext cx="24025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B7D95B-3D2F-4C4F-84C2-736910F991C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65557" y="4594783"/>
            <a:ext cx="4903787" cy="2169534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2B4291-A842-4956-B052-35B7E5CF05AF}"/>
              </a:ext>
            </a:extLst>
          </p:cNvPr>
          <p:cNvSpPr txBox="1"/>
          <p:nvPr/>
        </p:nvSpPr>
        <p:spPr>
          <a:xfrm>
            <a:off x="5840588" y="985217"/>
            <a:ext cx="1120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DEB987-D8FB-48B3-BE4B-33143C7A6DE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6089388" y="1689790"/>
            <a:ext cx="3676039" cy="1643102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7690354-981A-42F9-BBBF-ABC76EB09F9C}"/>
              </a:ext>
            </a:extLst>
          </p:cNvPr>
          <p:cNvSpPr txBox="1"/>
          <p:nvPr/>
        </p:nvSpPr>
        <p:spPr>
          <a:xfrm>
            <a:off x="8561665" y="3525108"/>
            <a:ext cx="46847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Step:04 </a:t>
            </a:r>
            <a:r>
              <a:rPr lang="en-US" sz="28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(Press ok)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47D548-1101-417F-8902-FF6FD9662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788" y="4429691"/>
            <a:ext cx="3142706" cy="169427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448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DE9F22-3991-4A63-8DBB-001BEC7711BB}"/>
              </a:ext>
            </a:extLst>
          </p:cNvPr>
          <p:cNvSpPr txBox="1"/>
          <p:nvPr/>
        </p:nvSpPr>
        <p:spPr>
          <a:xfrm>
            <a:off x="990600" y="729734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Steps of Creating Custom Numbering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31508B-556A-4D1D-BC60-57D1011E9BD4}"/>
              </a:ext>
            </a:extLst>
          </p:cNvPr>
          <p:cNvSpPr txBox="1"/>
          <p:nvPr/>
        </p:nvSpPr>
        <p:spPr>
          <a:xfrm>
            <a:off x="647241" y="1464474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D6B1F-5BF8-4460-9627-0BDC3D43E402}"/>
              </a:ext>
            </a:extLst>
          </p:cNvPr>
          <p:cNvSpPr txBox="1"/>
          <p:nvPr/>
        </p:nvSpPr>
        <p:spPr>
          <a:xfrm>
            <a:off x="7838723" y="1333246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E3A94-949A-41A2-AA82-EBC21D3E65E3}"/>
              </a:ext>
            </a:extLst>
          </p:cNvPr>
          <p:cNvSpPr txBox="1"/>
          <p:nvPr/>
        </p:nvSpPr>
        <p:spPr>
          <a:xfrm>
            <a:off x="1843863" y="5300044"/>
            <a:ext cx="4585771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Step:03</a:t>
            </a:r>
            <a:r>
              <a:rPr lang="en-US" sz="2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(Press ok)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96F117-B514-4E66-BD14-1CC0AFE8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58" y="2323116"/>
            <a:ext cx="3950839" cy="208175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26E57-6B13-4920-9B58-920A9F535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102" y="2127617"/>
            <a:ext cx="4096232" cy="1767856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01A50-A9B3-41AE-8406-0A909F361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50" y="4790646"/>
            <a:ext cx="2095500" cy="186690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34696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DE3EDB-DA59-48B6-9370-CA3B238DFA30}"/>
              </a:ext>
            </a:extLst>
          </p:cNvPr>
          <p:cNvSpPr txBox="1"/>
          <p:nvPr/>
        </p:nvSpPr>
        <p:spPr>
          <a:xfrm>
            <a:off x="798238" y="368136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Steps of Creating Multilevel Lists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7E3F7-4297-4B96-93D5-66594A954215}"/>
              </a:ext>
            </a:extLst>
          </p:cNvPr>
          <p:cNvSpPr txBox="1"/>
          <p:nvPr/>
        </p:nvSpPr>
        <p:spPr>
          <a:xfrm>
            <a:off x="1182512" y="1331326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FDB2A-AC69-4224-BAC8-2223D77F5B33}"/>
              </a:ext>
            </a:extLst>
          </p:cNvPr>
          <p:cNvSpPr txBox="1"/>
          <p:nvPr/>
        </p:nvSpPr>
        <p:spPr>
          <a:xfrm>
            <a:off x="4779688" y="1331327"/>
            <a:ext cx="112014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9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Step:02 </a:t>
            </a:r>
            <a:r>
              <a:rPr lang="en-US" sz="29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(Select Level)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51BE2-1C65-4787-A5E7-CA9FC764C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33" y="1883738"/>
            <a:ext cx="4475866" cy="512904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38DF47-68A7-4D22-8417-B7840D55F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303" y="2412206"/>
            <a:ext cx="6619875" cy="4600575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43149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115</TotalTime>
  <Words>864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Rockwell</vt:lpstr>
      <vt:lpstr>Times New Roman</vt:lpstr>
      <vt:lpstr>Damask</vt:lpstr>
      <vt:lpstr>INTRODUCTION TO OFFICE AUTOMATION:</vt:lpstr>
      <vt:lpstr>PowerPoint Presentation</vt:lpstr>
      <vt:lpstr>PowerPoint Presentation</vt:lpstr>
      <vt:lpstr>Microsoft Word 2021</vt:lpstr>
      <vt:lpstr>MS Word Interface</vt:lpstr>
      <vt:lpstr>MS Word Interface Main Component</vt:lpstr>
      <vt:lpstr> Font Group (in the Home Tab): </vt:lpstr>
      <vt:lpstr> Font Group (in the Home Tab): </vt:lpstr>
      <vt:lpstr>Paragraph Group (in the Home Tab)</vt:lpstr>
      <vt:lpstr>PowerPoint Presentation</vt:lpstr>
      <vt:lpstr>PowerPoint Presentation</vt:lpstr>
      <vt:lpstr>Creating Custom Bulleted, Numbering &amp; Multilevel Lists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27</cp:revision>
  <dcterms:created xsi:type="dcterms:W3CDTF">2026-02-13T11:56:02Z</dcterms:created>
  <dcterms:modified xsi:type="dcterms:W3CDTF">2026-02-13T14:12:35Z</dcterms:modified>
</cp:coreProperties>
</file>