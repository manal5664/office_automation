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75" r:id="rId4"/>
    <p:sldId id="261" r:id="rId5"/>
    <p:sldId id="265" r:id="rId6"/>
    <p:sldId id="276" r:id="rId7"/>
    <p:sldId id="269" r:id="rId8"/>
    <p:sldId id="268" r:id="rId9"/>
    <p:sldId id="270" r:id="rId10"/>
    <p:sldId id="271" r:id="rId11"/>
    <p:sldId id="272" r:id="rId12"/>
    <p:sldId id="273" r:id="rId13"/>
    <p:sldId id="274" r:id="rId14"/>
    <p:sldId id="277" r:id="rId15"/>
    <p:sldId id="278" r:id="rId16"/>
    <p:sldId id="27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2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0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9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8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9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5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6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93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6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68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6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18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61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23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6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9A49872-6BF0-4D9C-B3D9-E7B5C64F101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2997B19-BCAB-4264-B69F-FBC527070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7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0960-9FA6-D47B-E70C-CC56DFF72D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5E94F-7530-07BD-5C47-C1F3478DDA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349560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9661" y="940618"/>
            <a:ext cx="8761413" cy="706964"/>
          </a:xfrm>
        </p:spPr>
        <p:txBody>
          <a:bodyPr>
            <a:normAutofit/>
          </a:bodyPr>
          <a:lstStyle/>
          <a:p>
            <a:r>
              <a:rPr sz="3600" b="1" u="sng" dirty="0"/>
              <a:t>VLOOKUP &amp; HLOOKUP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615" y="2819828"/>
            <a:ext cx="8363638" cy="33496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VLOOKUP: searches vertically in the first column.</a:t>
            </a:r>
          </a:p>
          <a:p>
            <a:r>
              <a:rPr dirty="0"/>
              <a:t>Syntax: =VLOOKUP(</a:t>
            </a:r>
            <a:r>
              <a:rPr dirty="0" err="1"/>
              <a:t>lookup_value</a:t>
            </a:r>
            <a:r>
              <a:rPr dirty="0"/>
              <a:t>, table, </a:t>
            </a:r>
            <a:r>
              <a:rPr dirty="0" err="1"/>
              <a:t>col_index</a:t>
            </a:r>
            <a:r>
              <a:rPr dirty="0"/>
              <a:t>, FALSE)</a:t>
            </a:r>
          </a:p>
          <a:p>
            <a:r>
              <a:rPr dirty="0"/>
              <a:t>HLOOKUP: searches horizontally in the first row.</a:t>
            </a:r>
          </a:p>
          <a:p>
            <a:r>
              <a:rPr dirty="0"/>
              <a:t>Syntax: =HLOOKUP(</a:t>
            </a:r>
            <a:r>
              <a:rPr dirty="0" err="1"/>
              <a:t>lookup_value</a:t>
            </a:r>
            <a:r>
              <a:rPr dirty="0"/>
              <a:t>, table, </a:t>
            </a:r>
            <a:r>
              <a:rPr dirty="0" err="1"/>
              <a:t>row_index</a:t>
            </a:r>
            <a:r>
              <a:rPr dirty="0"/>
              <a:t>, FALSE)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FA4-2220-8D57-812F-43178A631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3DA5A-FD66-D233-CFD8-56AF404BD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42DA7-A90E-DFFB-2385-60A148EE9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42" y="262873"/>
            <a:ext cx="11375915" cy="609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0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COUNTIF, SUMIF, AVERAGEIF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95" y="1913533"/>
            <a:ext cx="7772400" cy="76968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COUNTIF: =COUNTIF(range, criteria) → Counts matching cells.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2047C-0040-303B-2350-6C9B01827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491" y="2683216"/>
            <a:ext cx="4972136" cy="445200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B1BF-B16D-4B9A-8CF4-CFB0E56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15" y="2476743"/>
            <a:ext cx="9267021" cy="81123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SUMIF: =SUMIF(range, criteria, sum range) → Sums matching.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4228C-BE96-B1C5-72F1-94652E9D251F}"/>
              </a:ext>
            </a:extLst>
          </p:cNvPr>
          <p:cNvSpPr txBox="1"/>
          <p:nvPr/>
        </p:nvSpPr>
        <p:spPr>
          <a:xfrm>
            <a:off x="4293824" y="972106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SUMIF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E407FA-00E9-B4D5-3E93-57B21210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739" y="3120528"/>
            <a:ext cx="8971403" cy="344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93291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E7AF-481F-782E-F2ED-22C8C67C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Average IF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875FD4-E42F-1297-6259-3C3621E17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283" y="3349394"/>
            <a:ext cx="8555433" cy="324789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47A51B-1B35-0FE6-C945-0D95F947BC72}"/>
              </a:ext>
            </a:extLst>
          </p:cNvPr>
          <p:cNvSpPr txBox="1"/>
          <p:nvPr/>
        </p:nvSpPr>
        <p:spPr>
          <a:xfrm>
            <a:off x="1257943" y="2426064"/>
            <a:ext cx="73069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AVERAGEIF: =AVERAGEIF(range, criteria, </a:t>
            </a:r>
            <a:r>
              <a:rPr lang="en-US" sz="1800" dirty="0" err="1"/>
              <a:t>average,range</a:t>
            </a:r>
            <a:r>
              <a:rPr lang="en-US" sz="1800" dirty="0"/>
              <a:t>) → Averages matching</a:t>
            </a:r>
            <a:br>
              <a:rPr lang="en-US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2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0815-5E44-4F85-B108-5798B4A01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u="sng" dirty="0"/>
              <a:t>What is CONCATENATE in Excel?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C8845-0338-F3E6-3043-BA52B8C2C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95613"/>
            <a:ext cx="9211918" cy="706964"/>
          </a:xfrm>
        </p:spPr>
        <p:txBody>
          <a:bodyPr/>
          <a:lstStyle/>
          <a:p>
            <a:r>
              <a:rPr lang="en-US" cap="none" dirty="0"/>
              <a:t>Concatenate (Or Its Newer Version Text join / </a:t>
            </a:r>
            <a:r>
              <a:rPr lang="en-US" cap="none" dirty="0" err="1"/>
              <a:t>Concat</a:t>
            </a:r>
            <a:r>
              <a:rPr lang="en-US" cap="none" dirty="0"/>
              <a:t>) Is A Function Used To Join (Combine) Text From Multiple Cells Into One String.</a:t>
            </a:r>
            <a:endParaRPr lang="en-US" dirty="0"/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9D1BC6BF-BD7C-43D8-AB48-D984268E4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182" t="-673" r="13182" b="673"/>
          <a:stretch/>
        </p:blipFill>
        <p:spPr>
          <a:xfrm>
            <a:off x="3695990" y="5323342"/>
            <a:ext cx="7772400" cy="163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7A631B-D579-4B6D-8001-9067D79D6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8" y="3429000"/>
            <a:ext cx="6708423" cy="181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20105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7B58-C5F1-4862-B686-12DDDAB0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842" y="1181686"/>
            <a:ext cx="7772400" cy="572085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Payroll sheet in excel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2C1F42-6EAB-48A3-A8A7-A8DA92345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0973" y="4095193"/>
            <a:ext cx="1828800" cy="57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901001-EDF5-4F40-A120-76BFD76F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61" y="2544529"/>
            <a:ext cx="8795825" cy="1514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1D1C81-4E64-4DAE-80A5-E2FC3C409DD7}"/>
              </a:ext>
            </a:extLst>
          </p:cNvPr>
          <p:cNvSpPr txBox="1"/>
          <p:nvPr/>
        </p:nvSpPr>
        <p:spPr>
          <a:xfrm>
            <a:off x="1051861" y="4130254"/>
            <a:ext cx="3108960" cy="383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For basic salary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19235C-6A1D-41C9-A9F1-50D758595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73" y="4797704"/>
            <a:ext cx="9144000" cy="131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28441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2F08-FCF6-40FF-AEBB-AC537076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670559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For medical allowance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15B4FB-A485-4C94-83FD-528072FA2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907" y="3880522"/>
            <a:ext cx="3103133" cy="1505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7D0E2-5A89-48FA-B935-BD53FD14D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3" y="2523002"/>
            <a:ext cx="8876714" cy="13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33502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BA90-8B77-4801-AD8C-E444D786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1036319"/>
          </a:xfrm>
        </p:spPr>
        <p:txBody>
          <a:bodyPr/>
          <a:lstStyle/>
          <a:p>
            <a:r>
              <a:rPr lang="en-US" b="1" u="sng" dirty="0"/>
              <a:t>For net pay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F9A54B-6CE8-4842-814E-D836873F0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873" y="4134734"/>
            <a:ext cx="2962275" cy="1466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8A700-71E5-4EE7-90B2-3D63A1EE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2" y="2583886"/>
            <a:ext cx="8736038" cy="134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68775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0EBF-C12E-4D6A-A3DE-B21DD903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/>
              <a:t>GP funds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F8094C-2A75-40C1-9932-821ED9021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2874" y="4515289"/>
            <a:ext cx="2619375" cy="1685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23C05-C9F3-49C6-8C81-9D318E4B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71" y="2829364"/>
            <a:ext cx="8637562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79573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7925-732D-485F-95D2-BD7DEDB55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871" y="698247"/>
            <a:ext cx="8761413" cy="706964"/>
          </a:xfrm>
        </p:spPr>
        <p:txBody>
          <a:bodyPr/>
          <a:lstStyle/>
          <a:p>
            <a:br>
              <a:rPr lang="en-US" dirty="0"/>
            </a:br>
            <a:r>
              <a:rPr lang="en-US" sz="3600" b="1" u="sng" dirty="0"/>
              <a:t>for Tax</a:t>
            </a:r>
            <a:endParaRPr lang="en-US" b="1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A0EED0-E8C2-44DF-B1BA-912FE2985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532" y="2840722"/>
            <a:ext cx="7772400" cy="1176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DDE26-F836-4398-87AF-BA9414F74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275" y="4247623"/>
            <a:ext cx="2524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13826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C031-4A2B-4E49-B474-B52C2D3E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965981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For deduction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989B26-7CCB-4E89-A16E-0A3067593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5103" y="2611172"/>
            <a:ext cx="7772400" cy="1410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92AB6-D7E4-4BBE-81E5-66DFA99C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4247734"/>
            <a:ext cx="235267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15899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9CA8-9C52-0013-431C-B0A80018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2877D-6D95-85BA-6937-6F4F01211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43" y="2335194"/>
            <a:ext cx="4144158" cy="3416300"/>
          </a:xfrm>
        </p:spPr>
        <p:txBody>
          <a:bodyPr/>
          <a:lstStyle/>
          <a:p>
            <a:r>
              <a:rPr lang="en-US" b="1" dirty="0"/>
              <a:t>Data Validation</a:t>
            </a:r>
          </a:p>
          <a:p>
            <a:r>
              <a:rPr lang="en-US" dirty="0"/>
              <a:t>Restricts user input.</a:t>
            </a:r>
          </a:p>
          <a:p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dropdown for Grade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(A, B, C, D, F)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tab → Data Validation →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86392-1104-3CC4-6BA2-54D6DFE50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101" y="2208194"/>
            <a:ext cx="4419600" cy="3543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7D5F59-6865-F3DC-6F8E-C689589B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8" r="8486" b="5731"/>
          <a:stretch/>
        </p:blipFill>
        <p:spPr>
          <a:xfrm>
            <a:off x="9617725" y="2979719"/>
            <a:ext cx="1443210" cy="198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08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F82C-AEBB-7390-A7B8-0FF90C56C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sorting and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1EE7-B86F-0300-6D71-50A8107FB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Sorting</a:t>
            </a:r>
          </a:p>
          <a:p>
            <a:r>
              <a:rPr lang="en-US" dirty="0"/>
              <a:t>Arrange data A-Z / Largest to Smallest.</a:t>
            </a:r>
          </a:p>
          <a:p>
            <a:r>
              <a:rPr lang="en-US" b="1" dirty="0"/>
              <a:t>Filtering</a:t>
            </a:r>
          </a:p>
          <a:p>
            <a:r>
              <a:rPr lang="en-US" dirty="0"/>
              <a:t>Display specific records only.</a:t>
            </a:r>
            <a:br>
              <a:rPr lang="en-US" dirty="0"/>
            </a:br>
            <a:r>
              <a:rPr lang="en-US" dirty="0"/>
              <a:t>Data → Filter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825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FDDC-C050-7240-03E2-104C9F92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 Workbook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E8805-C73C-8660-953A-F97897355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then protect workbook</a:t>
            </a:r>
          </a:p>
          <a:p>
            <a:r>
              <a:rPr lang="en-US" dirty="0"/>
              <a:t>Encrypt with password </a:t>
            </a:r>
          </a:p>
          <a:p>
            <a:r>
              <a:rPr lang="en-US" dirty="0"/>
              <a:t>Type password </a:t>
            </a:r>
          </a:p>
        </p:txBody>
      </p:sp>
    </p:spTree>
    <p:extLst>
      <p:ext uri="{BB962C8B-B14F-4D97-AF65-F5344CB8AC3E}">
        <p14:creationId xmlns:p14="http://schemas.microsoft.com/office/powerpoint/2010/main" val="1311903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180</TotalTime>
  <Words>239</Words>
  <Application>Microsoft Office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MS Excel</vt:lpstr>
      <vt:lpstr>VLOOKUP &amp; HLOOKUP</vt:lpstr>
      <vt:lpstr>PowerPoint Presentation</vt:lpstr>
      <vt:lpstr>COUNTIF, SUMIF, AVERAGEIF</vt:lpstr>
      <vt:lpstr>SUMIF: =SUMIF(range, criteria, sum range) → Sums matching.</vt:lpstr>
      <vt:lpstr>Average IF</vt:lpstr>
      <vt:lpstr>What is CONCATENATE in Excel? </vt:lpstr>
      <vt:lpstr>Payroll sheet in excel </vt:lpstr>
      <vt:lpstr>For medical allowance</vt:lpstr>
      <vt:lpstr>For net pay</vt:lpstr>
      <vt:lpstr>GP funds</vt:lpstr>
      <vt:lpstr> for Tax</vt:lpstr>
      <vt:lpstr>For deduction</vt:lpstr>
      <vt:lpstr>Data Validation</vt:lpstr>
      <vt:lpstr>Data sorting and filtering</vt:lpstr>
      <vt:lpstr>Protect Workbook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14</cp:revision>
  <dcterms:created xsi:type="dcterms:W3CDTF">2026-02-16T10:25:59Z</dcterms:created>
  <dcterms:modified xsi:type="dcterms:W3CDTF">2026-02-16T14:14:16Z</dcterms:modified>
</cp:coreProperties>
</file>