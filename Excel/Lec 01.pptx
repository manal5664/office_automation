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  <p:sldId id="269" r:id="rId4"/>
    <p:sldId id="257" r:id="rId5"/>
    <p:sldId id="270" r:id="rId6"/>
    <p:sldId id="258" r:id="rId7"/>
    <p:sldId id="259" r:id="rId8"/>
    <p:sldId id="260" r:id="rId9"/>
    <p:sldId id="261" r:id="rId10"/>
    <p:sldId id="268" r:id="rId11"/>
    <p:sldId id="262" r:id="rId12"/>
    <p:sldId id="263" r:id="rId13"/>
    <p:sldId id="272" r:id="rId14"/>
    <p:sldId id="273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6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1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77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4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3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7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0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0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6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127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1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48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61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14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3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87B3A7-C8A6-49C4-80AA-E29B5DDA00D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E8D0B-9B9C-4793-91FD-4DAE1F0A8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6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EEB0-D9BB-4A94-8EE1-569CFCD8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413" y="3972724"/>
            <a:ext cx="4839286" cy="697750"/>
          </a:xfrm>
        </p:spPr>
        <p:txBody>
          <a:bodyPr>
            <a:noAutofit/>
          </a:bodyPr>
          <a:lstStyle/>
          <a:p>
            <a:r>
              <a:rPr lang="en-US" dirty="0"/>
              <a:t>Introduction &amp; Basic Functions 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6FE03-FD76-E7CF-926F-2E2F7B45EDA6}"/>
              </a:ext>
            </a:extLst>
          </p:cNvPr>
          <p:cNvSpPr txBox="1"/>
          <p:nvPr/>
        </p:nvSpPr>
        <p:spPr>
          <a:xfrm>
            <a:off x="5971143" y="4670474"/>
            <a:ext cx="3280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1860759517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811236"/>
          </a:xfrm>
        </p:spPr>
        <p:txBody>
          <a:bodyPr>
            <a:normAutofit/>
          </a:bodyPr>
          <a:lstStyle/>
          <a:p>
            <a:r>
              <a:rPr sz="3600" b="1" u="sng" dirty="0"/>
              <a:t>Introduction to Microsoft Excel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ED98A2-2EF2-4D48-92AE-324B7CF12E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3742" y="1382871"/>
            <a:ext cx="7220759" cy="444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Developed by Microsoft as part of the Microsoft Office suite.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Works with spreadsheets – organized into rows and columns.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u="sng" dirty="0">
                <a:latin typeface="Arial" panose="020B0604020202020204" pitchFamily="34" charset="0"/>
              </a:rPr>
              <a:t>Used for: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Data analysis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Performing mathematical operations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Creating charts and graphs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Maintaining records like inventory, payroll, and student marksheets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Supports formulas and functions like </a:t>
            </a:r>
            <a:r>
              <a:rPr lang="en-US" altLang="en-US" sz="1000" dirty="0">
                <a:latin typeface="Arial Unicode MS"/>
              </a:rPr>
              <a:t>SUM</a:t>
            </a:r>
            <a:r>
              <a:rPr lang="en-US" altLang="en-US" sz="800" dirty="0"/>
              <a:t>, </a:t>
            </a:r>
            <a:r>
              <a:rPr lang="en-US" altLang="en-US" sz="1000" dirty="0">
                <a:latin typeface="Arial Unicode MS"/>
              </a:rPr>
              <a:t>AVERAGE</a:t>
            </a:r>
            <a:r>
              <a:rPr lang="en-US" altLang="en-US" sz="800" dirty="0"/>
              <a:t>, </a:t>
            </a:r>
            <a:r>
              <a:rPr lang="en-US" altLang="en-US" sz="1000" dirty="0">
                <a:latin typeface="Arial Unicode MS"/>
              </a:rPr>
              <a:t>IF</a:t>
            </a:r>
            <a:r>
              <a:rPr lang="en-US" altLang="en-US" sz="800" dirty="0"/>
              <a:t>, etc.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Helps in visualizing data using: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Bar charts, pie charts, line graphs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Conditional formatting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u="sng" dirty="0">
                <a:latin typeface="Arial" panose="020B0604020202020204" pitchFamily="34" charset="0"/>
              </a:rPr>
              <a:t>Useful in a wide range of fields: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Business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Education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Accounting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Engineering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Works on Windows, Mac, and Online (Excel for Web)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5FE6-896F-59F2-8E6D-3EE514D8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Worksheet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FC6128-7E05-55CE-8629-7B0B3690C2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6614" y="1152983"/>
            <a:ext cx="5608039" cy="714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Excel → Blank Workbook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F5C7E9-7802-FF90-8AF6-A8BC2A2D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633" y="2062568"/>
            <a:ext cx="8371679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8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40" y="201978"/>
            <a:ext cx="7772400" cy="998156"/>
          </a:xfrm>
        </p:spPr>
        <p:txBody>
          <a:bodyPr>
            <a:normAutofit/>
          </a:bodyPr>
          <a:lstStyle/>
          <a:p>
            <a:r>
              <a:rPr sz="3600" b="1" u="sng" dirty="0"/>
              <a:t>Excel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40" y="948101"/>
            <a:ext cx="7772400" cy="162781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Ribbon Tabs: Home, Insert, Formulas, etc.</a:t>
            </a:r>
          </a:p>
          <a:p>
            <a:r>
              <a:rPr dirty="0"/>
              <a:t> Rows and Columns: Grid for data</a:t>
            </a:r>
          </a:p>
          <a:p>
            <a:r>
              <a:rPr dirty="0"/>
              <a:t>Formula Bar: Shows/edit cell formula</a:t>
            </a:r>
          </a:p>
          <a:p>
            <a:r>
              <a:rPr dirty="0"/>
              <a:t>Name Box: Shows active cell address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8FE30-3090-0AE1-68EE-955450C29E76}"/>
              </a:ext>
            </a:extLst>
          </p:cNvPr>
          <p:cNvSpPr txBox="1"/>
          <p:nvPr/>
        </p:nvSpPr>
        <p:spPr>
          <a:xfrm>
            <a:off x="504940" y="4154302"/>
            <a:ext cx="17103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Enter data in rows and columns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1D91CB-36FB-50BA-9D5D-C0B6433D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760" y="2506179"/>
            <a:ext cx="9601889" cy="421957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100537-2123-7D97-D445-37317CD4F17F}"/>
              </a:ext>
            </a:extLst>
          </p:cNvPr>
          <p:cNvCxnSpPr/>
          <p:nvPr/>
        </p:nvCxnSpPr>
        <p:spPr>
          <a:xfrm>
            <a:off x="1861851" y="4726236"/>
            <a:ext cx="12228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D2DE-7283-C2F5-BB45-7360F3C5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Referencing &amp; Auto Fill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21D8A0-6015-3D67-18CD-9FDE0BF58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745" y="1447423"/>
            <a:ext cx="8001419" cy="2340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A1, B2, C3 = Cell addresses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reference (A1)</a:t>
            </a:r>
            <a:r>
              <a:rPr lang="en-US" altLang="en-US" sz="1900" dirty="0">
                <a:latin typeface="Arial" panose="020B0604020202020204" pitchFamily="34" charset="0"/>
              </a:rPr>
              <a:t> → Changes when dragged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Absolute reference ($A$1)</a:t>
            </a:r>
            <a:r>
              <a:rPr lang="en-US" altLang="en-US" sz="1900" dirty="0">
                <a:latin typeface="Arial" panose="020B0604020202020204" pitchFamily="34" charset="0"/>
              </a:rPr>
              <a:t> → Fully fixed ($A$1)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reference (A$1 or $A1)</a:t>
            </a:r>
            <a:r>
              <a:rPr lang="en-US" altLang="en-US" sz="1900" dirty="0">
                <a:latin typeface="Arial" panose="020B0604020202020204" pitchFamily="34" charset="0"/>
              </a:rPr>
              <a:t> → Partially fixed (A$1 or $A1)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77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1008184"/>
          </a:xfrm>
        </p:spPr>
        <p:txBody>
          <a:bodyPr>
            <a:normAutofit/>
          </a:bodyPr>
          <a:lstStyle/>
          <a:p>
            <a:r>
              <a:rPr sz="3600" b="1" u="sng" dirty="0"/>
              <a:t>Creating a First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4591" y="1494955"/>
            <a:ext cx="7772400" cy="72774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Example: Student Marksheet</a:t>
            </a:r>
          </a:p>
          <a:p>
            <a:pPr marL="0" indent="0">
              <a:buNone/>
            </a:pPr>
            <a:r>
              <a:rPr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7503A-529D-D563-B01D-F97BDE80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00" y="1993985"/>
            <a:ext cx="9348653" cy="449495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881574"/>
          </a:xfrm>
        </p:spPr>
        <p:txBody>
          <a:bodyPr>
            <a:normAutofit/>
          </a:bodyPr>
          <a:lstStyle/>
          <a:p>
            <a:r>
              <a:rPr sz="3600" b="1" u="sng" dirty="0"/>
              <a:t>Using SUM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91176"/>
            <a:ext cx="7772400" cy="1712480"/>
          </a:xfrm>
        </p:spPr>
        <p:txBody>
          <a:bodyPr>
            <a:normAutofit/>
          </a:bodyPr>
          <a:lstStyle/>
          <a:p>
            <a:r>
              <a:rPr dirty="0"/>
              <a:t>Formula: =SUM(B2:D2)</a:t>
            </a:r>
          </a:p>
          <a:p>
            <a:r>
              <a:rPr dirty="0"/>
              <a:t>Adds values from B2 to D2 (e.g., total marks)</a:t>
            </a:r>
          </a:p>
          <a:p>
            <a:r>
              <a:rPr dirty="0"/>
              <a:t>Example:</a:t>
            </a:r>
          </a:p>
          <a:p>
            <a:r>
              <a:rPr dirty="0"/>
              <a:t>=SUM(85, 78, 90) = 253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1911F-1023-4E5D-95D5-94E11E5B8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74" y="3429001"/>
            <a:ext cx="2866219" cy="2648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DCCDE8-0FA2-49A4-97DB-2783C13C9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305" y="3429000"/>
            <a:ext cx="2943225" cy="2648242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1064454"/>
          </a:xfrm>
        </p:spPr>
        <p:txBody>
          <a:bodyPr>
            <a:normAutofit/>
          </a:bodyPr>
          <a:lstStyle/>
          <a:p>
            <a:r>
              <a:rPr sz="3600" b="1" u="sng" dirty="0"/>
              <a:t>Using AVERAGE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66820"/>
            <a:ext cx="7772400" cy="1642141"/>
          </a:xfrm>
        </p:spPr>
        <p:txBody>
          <a:bodyPr>
            <a:normAutofit lnSpcReduction="10000"/>
          </a:bodyPr>
          <a:lstStyle/>
          <a:p>
            <a:r>
              <a:rPr dirty="0"/>
              <a:t>Formula: =AVERAGE(B2:D2)</a:t>
            </a:r>
          </a:p>
          <a:p>
            <a:r>
              <a:rPr dirty="0"/>
              <a:t>Calculates mean value</a:t>
            </a:r>
          </a:p>
          <a:p>
            <a:r>
              <a:rPr dirty="0"/>
              <a:t>Example:</a:t>
            </a:r>
          </a:p>
          <a:p>
            <a:r>
              <a:rPr dirty="0"/>
              <a:t>=AVERAGE(85, 78, 90) = 84.33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B1079-4CBE-4036-A5BC-58ABC98FA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0" y="3429000"/>
            <a:ext cx="3048000" cy="2171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04714-42D3-4EDA-9AEC-002285E58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458" y="3429000"/>
            <a:ext cx="2952750" cy="2171701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769033"/>
          </a:xfrm>
        </p:spPr>
        <p:txBody>
          <a:bodyPr>
            <a:normAutofit/>
          </a:bodyPr>
          <a:lstStyle/>
          <a:p>
            <a:r>
              <a:rPr sz="3600" b="1" u="sng" dirty="0"/>
              <a:t>Using MIN, MAX &amp;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11164"/>
            <a:ext cx="7772400" cy="1599938"/>
          </a:xfrm>
        </p:spPr>
        <p:txBody>
          <a:bodyPr>
            <a:normAutofit/>
          </a:bodyPr>
          <a:lstStyle/>
          <a:p>
            <a:r>
              <a:rPr dirty="0"/>
              <a:t>MIN: =MIN(B2:D2) → Finds lowest</a:t>
            </a:r>
          </a:p>
          <a:p>
            <a:r>
              <a:rPr dirty="0"/>
              <a:t>MAX: =MAX(B2:D2) → Finds highest</a:t>
            </a:r>
          </a:p>
          <a:p>
            <a:r>
              <a:rPr dirty="0"/>
              <a:t>COUNT: =COUNT(B2:D4) → Counts numeric entries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96493-5830-449E-807E-5A90368A0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957" y="3022712"/>
            <a:ext cx="2638425" cy="2524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AA00FB-D199-49D9-90AC-163573DF8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022712"/>
            <a:ext cx="2321170" cy="252412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C37D46-2276-4C63-B91D-9258033D9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583" y="414994"/>
            <a:ext cx="3048000" cy="3014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12643E-9CF7-4D22-A457-153F31E0F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4994"/>
            <a:ext cx="2895382" cy="29570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38CAEB-4048-4E98-B300-E61C8437D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583" y="3723689"/>
            <a:ext cx="3048000" cy="2533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E50180-F241-4D1A-94EC-7B09EF2A5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982" y="3723689"/>
            <a:ext cx="28194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77012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670559"/>
          </a:xfrm>
        </p:spPr>
        <p:txBody>
          <a:bodyPr>
            <a:normAutofit/>
          </a:bodyPr>
          <a:lstStyle/>
          <a:p>
            <a:r>
              <a:rPr sz="3600" b="1" u="sng" dirty="0"/>
              <a:t>Using IF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12075"/>
            <a:ext cx="7772400" cy="1740615"/>
          </a:xfrm>
        </p:spPr>
        <p:txBody>
          <a:bodyPr>
            <a:normAutofit/>
          </a:bodyPr>
          <a:lstStyle/>
          <a:p>
            <a:r>
              <a:rPr dirty="0"/>
              <a:t>Formula: =IF(E2&gt;250, "Pass", "Fail")</a:t>
            </a:r>
          </a:p>
          <a:p>
            <a:r>
              <a:rPr dirty="0"/>
              <a:t>Checks condition and returns result</a:t>
            </a:r>
          </a:p>
          <a:p>
            <a:r>
              <a:rPr dirty="0"/>
              <a:t>Example:</a:t>
            </a:r>
          </a:p>
          <a:p>
            <a:r>
              <a:rPr dirty="0"/>
              <a:t>=IF(253&gt;250, "Pass", "Fail") → Pass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8DC1A-2828-4EA6-A0BA-D69BDD3B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3172623"/>
            <a:ext cx="8159261" cy="1784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BC53E6-80F1-48A6-8164-177839151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5076870"/>
            <a:ext cx="8159261" cy="14859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1022251"/>
          </a:xfrm>
        </p:spPr>
        <p:txBody>
          <a:bodyPr>
            <a:normAutofit/>
          </a:bodyPr>
          <a:lstStyle/>
          <a:p>
            <a:r>
              <a:rPr sz="3600" b="1" u="sng" dirty="0"/>
              <a:t>Combining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35066"/>
            <a:ext cx="7772400" cy="161400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Example: Total + Average + Pass/Fail</a:t>
            </a:r>
          </a:p>
          <a:p>
            <a:r>
              <a:rPr dirty="0"/>
              <a:t>Total: =SUM(B2:D2)</a:t>
            </a:r>
          </a:p>
          <a:p>
            <a:r>
              <a:rPr dirty="0"/>
              <a:t>Avg: =AVERAGE(B2:D2)</a:t>
            </a:r>
          </a:p>
          <a:p>
            <a:r>
              <a:rPr dirty="0"/>
              <a:t>Result: =IF(E2&gt;250, "Pass", "Fail")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5DDF-5C6A-4257-9806-D53A95B1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72B8-4AF9-DF42-287D-F545BA80A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Nested IF</a:t>
            </a:r>
            <a:r>
              <a:rPr lang="en-US" dirty="0"/>
              <a:t> is used in Excel when we need to check multiple conditions within a single formula.</a:t>
            </a:r>
            <a:br>
              <a:rPr lang="en-US" dirty="0"/>
            </a:br>
            <a:r>
              <a:rPr lang="en-US" dirty="0"/>
              <a:t>It means placing one IF function inside another IF function to return different results based on different conditions.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5EDF6-8400-0CC7-00B7-0E5C046BB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2657"/>
            <a:ext cx="12191999" cy="183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1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0383-8870-5C66-1F34-82145CE2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6" y="109006"/>
            <a:ext cx="11166948" cy="1400530"/>
          </a:xfrm>
        </p:spPr>
        <p:txBody>
          <a:bodyPr/>
          <a:lstStyle/>
          <a:p>
            <a:r>
              <a:rPr lang="en-US" dirty="0"/>
              <a:t>Practical Task: Create a Sales Tracker with Charts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C05F0A-FC04-E904-D32B-D611E4820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46"/>
          <a:stretch/>
        </p:blipFill>
        <p:spPr>
          <a:xfrm>
            <a:off x="49428" y="1509536"/>
            <a:ext cx="5585254" cy="4384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168450-8BA2-EBE4-5F5E-E924FBCE7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989" y="1509537"/>
            <a:ext cx="6448940" cy="438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72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9117-0E50-A52E-6374-2524D2F8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Practical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79828-BF6F-3ABD-3487-7D659F265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8E254-733E-B31B-4655-8E8E12D9B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13" y="1501927"/>
            <a:ext cx="11746574" cy="499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166</TotalTime>
  <Words>467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Century Gothic</vt:lpstr>
      <vt:lpstr>Wingdings 3</vt:lpstr>
      <vt:lpstr>Ion</vt:lpstr>
      <vt:lpstr>Introduction &amp; Basic Functions </vt:lpstr>
      <vt:lpstr>Introduction to Microsoft Excel</vt:lpstr>
      <vt:lpstr>Creating a Worksheet</vt:lpstr>
      <vt:lpstr>Excel Interface Overview</vt:lpstr>
      <vt:lpstr>Cell Referencing &amp; Auto Fill</vt:lpstr>
      <vt:lpstr>Creating a First Spreadsheet</vt:lpstr>
      <vt:lpstr>Using SUM Function</vt:lpstr>
      <vt:lpstr>Using AVERAGE Function</vt:lpstr>
      <vt:lpstr>Using MIN, MAX &amp; COUNT</vt:lpstr>
      <vt:lpstr>PowerPoint Presentation</vt:lpstr>
      <vt:lpstr>Using IF Function</vt:lpstr>
      <vt:lpstr>Combining Functions</vt:lpstr>
      <vt:lpstr>Nested IF</vt:lpstr>
      <vt:lpstr>Practical Task: Create a Sales Tracker with Charts</vt:lpstr>
      <vt:lpstr>Practical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8</cp:revision>
  <dcterms:created xsi:type="dcterms:W3CDTF">2026-02-16T08:06:03Z</dcterms:created>
  <dcterms:modified xsi:type="dcterms:W3CDTF">2026-02-16T10:58:17Z</dcterms:modified>
</cp:coreProperties>
</file>